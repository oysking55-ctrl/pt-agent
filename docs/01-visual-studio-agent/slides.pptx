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C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Visual Studio를 이용한 나만의 Agent 만들기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93192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4F8CFF"/>
                </a:solidFill>
              </a:defRPr>
            </a:pPr>
            <a:r>
              <a:t>w/ Claude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4805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CD6F6"/>
                </a:solidFill>
              </a:defRPr>
            </a:pPr>
            <a:r>
              <a:t>대상: 중학생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1280160" cy="508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11C3B"/>
                </a:solidFill>
              </a:defRPr>
            </a:pPr>
            <a:r>
              <a:t>Visual Studio란 무엇인가?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Visual Studio는 마이크로소프트(Microsoft)가 만든 프로그램이에요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한글이나 워드로 글을 쓰듯, 이 프로그램 안에서 '코드'(컴퓨터에게 시키는 명령어)를 써요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코드를 쓰고, 잘못된 부분을 찾아 고치고, 실제로 실행해보는 것까지 한 프로그램에서 다 할 수 있어요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무료로 쓸 수 있는 버전(Community)이 있어서 학생도 설치해서 바로 써볼 수 있어요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2026년형 최신 버전은 AI 도우미가 기본으로 들어있어서, 코드를 짤 때 옆에서 같이 도와줘요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989320"/>
            <a:ext cx="10881360" cy="15240"/>
          </a:xfrm>
          <a:prstGeom prst="rect">
            <a:avLst/>
          </a:prstGeom>
          <a:solidFill>
            <a:srgbClr val="D8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4F8CFF"/>
                </a:solidFill>
              </a:rPr>
              <a:t>용어 설명   </a:t>
            </a:r>
            <a:r>
              <a:rPr sz="1100">
                <a:solidFill>
                  <a:srgbClr val="333A4D"/>
                </a:solidFill>
              </a:rPr>
              <a:t/>
            </a:r>
            <a:r>
              <a:rPr sz="1100" b="1">
                <a:solidFill>
                  <a:srgbClr val="111C3B"/>
                </a:solidFill>
              </a:rPr>
              <a:t>코드(Code) </a:t>
            </a:r>
            <a:r>
              <a:rPr sz="1100">
                <a:solidFill>
                  <a:srgbClr val="333A4D"/>
                </a:solidFill>
              </a:rPr>
              <a:t>컴퓨터에게 무엇을 하라고 알려주는 명령어 모음</a:t>
            </a:r>
            <a:r>
              <a:rPr sz="1100">
                <a:solidFill>
                  <a:srgbClr val="333A4D"/>
                </a:solidFill>
              </a:rPr>
              <a:t>     ·     </a:t>
            </a:r>
            <a:r>
              <a:rPr sz="1100" b="1">
                <a:solidFill>
                  <a:srgbClr val="111C3B"/>
                </a:solidFill>
              </a:rPr>
              <a:t>IDE </a:t>
            </a:r>
            <a:r>
              <a:rPr sz="1100">
                <a:solidFill>
                  <a:srgbClr val="333A4D"/>
                </a:solidFill>
              </a:rPr>
              <a:t>코드를 쓰고 실행하고 오류를 찾는 걸 한 프로그램에서 다 할 수 있게 해주는 도구. Visual Studio가 대표적인 IDE예요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A4D"/>
                </a:solidFill>
              </a:defRPr>
            </a:pPr>
            <a:r>
              <a:t>2/9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11C3B"/>
                </a:solidFill>
              </a:defRPr>
            </a:pPr>
            <a:r>
              <a:t>Visual Studio 기능 및 설명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자동 완성 — 코드를 치다 보면 다음에 올 말을 미리 알려줘서 더 빠르게 쓸 수 있어요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디버깅 — 코드에서 잘못된 부분(버그)을 찾아서 고칠 수 있게 도와줘요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Git 연동 — 내가 만든 코드를 저장하고, 예전 버전으로 되돌리는 것도 할 수 있어요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테스트 기능 — 내가 만든 프로그램이 제대로 작동하는지 자동으로 확인해줘요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AI 채팅(Copilot) — 궁금한 걸 물어보면 AI가 코드를 대신 써주거나 설명해줘요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다양한 테마 — 눈이 편안한 여러 색 화면 중에서 고를 수 있어요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확장 기능 — 스마트폰에 앱을 설치하듯, 필요한 기능을 나중에 더 추가할 수 있어요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989320"/>
            <a:ext cx="10881360" cy="15240"/>
          </a:xfrm>
          <a:prstGeom prst="rect">
            <a:avLst/>
          </a:prstGeom>
          <a:solidFill>
            <a:srgbClr val="D8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4F8CFF"/>
                </a:solidFill>
              </a:rPr>
              <a:t>용어 설명   </a:t>
            </a:r>
            <a:r>
              <a:rPr sz="1100">
                <a:solidFill>
                  <a:srgbClr val="333A4D"/>
                </a:solidFill>
              </a:rPr>
              <a:t/>
            </a:r>
            <a:r>
              <a:rPr sz="1100" b="1">
                <a:solidFill>
                  <a:srgbClr val="111C3B"/>
                </a:solidFill>
              </a:rPr>
              <a:t>버그(Bug) </a:t>
            </a:r>
            <a:r>
              <a:rPr sz="1100">
                <a:solidFill>
                  <a:srgbClr val="333A4D"/>
                </a:solidFill>
              </a:rPr>
              <a:t>프로그램에서 잘못 작동하는 부분</a:t>
            </a:r>
            <a:r>
              <a:rPr sz="1100">
                <a:solidFill>
                  <a:srgbClr val="333A4D"/>
                </a:solidFill>
              </a:rPr>
              <a:t>     ·     </a:t>
            </a:r>
            <a:r>
              <a:rPr sz="1100" b="1">
                <a:solidFill>
                  <a:srgbClr val="111C3B"/>
                </a:solidFill>
              </a:rPr>
              <a:t>디버깅 </a:t>
            </a:r>
            <a:r>
              <a:rPr sz="1100">
                <a:solidFill>
                  <a:srgbClr val="333A4D"/>
                </a:solidFill>
              </a:rPr>
              <a:t>버그를 찾아서 고치는 작업</a:t>
            </a:r>
            <a:r>
              <a:rPr sz="1100">
                <a:solidFill>
                  <a:srgbClr val="333A4D"/>
                </a:solidFill>
              </a:rPr>
              <a:t>     ·     </a:t>
            </a:r>
            <a:r>
              <a:rPr sz="1100" b="1">
                <a:solidFill>
                  <a:srgbClr val="111C3B"/>
                </a:solidFill>
              </a:rPr>
              <a:t>Git </a:t>
            </a:r>
            <a:r>
              <a:rPr sz="1100">
                <a:solidFill>
                  <a:srgbClr val="333A4D"/>
                </a:solidFill>
              </a:rPr>
              <a:t>코드를 저장하고 여러 버전을 관리해주는 도구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A4D"/>
                </a:solidFill>
              </a:defRPr>
            </a:pPr>
            <a:r>
              <a:t>3/9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11C3B"/>
                </a:solidFill>
              </a:defRPr>
            </a:pPr>
            <a:r>
              <a:t>JSON이란 무엇인가?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6400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JSON은 컴퓨터끼리 정보를 주고받을 때 자주 쓰는 '간단한 메모 형식'이에요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예를 들어 '이름: 홍길동, 나이: 14'처럼 이름표와 내용을 짝지어 적어요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사람이 읽기도 쉽고, 어떤 프로그래밍 언어에서도 쉽게 사용할 수 있어요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웹사이트에서 정보를 받아올 때나, 프로그램 설정을 저장할 때 자주 사용해요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Visual Studio와 Claude Code도 설정 파일을 이 JSON 형식으로 만들어요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0" y="1417320"/>
            <a:ext cx="4297680" cy="2926080"/>
          </a:xfrm>
          <a:prstGeom prst="rect">
            <a:avLst/>
          </a:prstGeom>
          <a:solidFill>
            <a:srgbClr val="111C3B"/>
          </a:solidFill>
        </p:spPr>
        <p:txBody>
          <a:bodyPr wrap="square" lIns="152400" tIns="152400">
            <a:spAutoFit/>
          </a:bodyPr>
          <a:lstStyle/>
          <a:p>
            <a:pPr>
              <a:defRPr sz="1300">
                <a:solidFill>
                  <a:srgbClr val="9CD8FF"/>
                </a:solidFill>
                <a:latin typeface="Consolas"/>
              </a:defRPr>
            </a:pPr>
            <a:r>
              <a:t>{</a:t>
            </a:r>
          </a:p>
          <a:p>
            <a:pPr>
              <a:defRPr sz="1300">
                <a:solidFill>
                  <a:srgbClr val="9CD8FF"/>
                </a:solidFill>
                <a:latin typeface="Consolas"/>
              </a:defRPr>
            </a:pPr>
            <a:r>
              <a:t>  "name": "PT Agent",</a:t>
            </a:r>
          </a:p>
          <a:p>
            <a:pPr>
              <a:defRPr sz="1300">
                <a:solidFill>
                  <a:srgbClr val="9CD8FF"/>
                </a:solidFill>
                <a:latin typeface="Consolas"/>
              </a:defRPr>
            </a:pPr>
            <a:r>
              <a:t>  "sections": ["intro", "demo"]</a:t>
            </a:r>
          </a:p>
          <a:p>
            <a:pPr>
              <a:defRPr sz="1300">
                <a:solidFill>
                  <a:srgbClr val="9CD8FF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5989320"/>
            <a:ext cx="10881360" cy="15240"/>
          </a:xfrm>
          <a:prstGeom prst="rect">
            <a:avLst/>
          </a:prstGeom>
          <a:solidFill>
            <a:srgbClr val="D8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08076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4F8CFF"/>
                </a:solidFill>
              </a:rPr>
              <a:t>용어 설명   </a:t>
            </a:r>
            <a:r>
              <a:rPr sz="1100">
                <a:solidFill>
                  <a:srgbClr val="333A4D"/>
                </a:solidFill>
              </a:rPr>
              <a:t/>
            </a:r>
            <a:r>
              <a:rPr sz="1100" b="1">
                <a:solidFill>
                  <a:srgbClr val="111C3B"/>
                </a:solidFill>
              </a:rPr>
              <a:t>이름표-내용(Key-Value) </a:t>
            </a:r>
            <a:r>
              <a:rPr sz="1100">
                <a:solidFill>
                  <a:srgbClr val="333A4D"/>
                </a:solidFill>
              </a:rPr>
              <a:t>'이름표: 내용'처럼 한 쌍으로 짝지어 정보를 적는 방식</a:t>
            </a:r>
            <a:r>
              <a:rPr sz="1100">
                <a:solidFill>
                  <a:srgbClr val="333A4D"/>
                </a:solidFill>
              </a:rPr>
              <a:t>     ·     </a:t>
            </a:r>
            <a:r>
              <a:rPr sz="1100" b="1">
                <a:solidFill>
                  <a:srgbClr val="111C3B"/>
                </a:solidFill>
              </a:rPr>
              <a:t>설정 파일 </a:t>
            </a:r>
            <a:r>
              <a:rPr sz="1100">
                <a:solidFill>
                  <a:srgbClr val="333A4D"/>
                </a:solidFill>
              </a:rPr>
              <a:t>프로그램이 어떻게 동작할지 미리 정해놓은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A4D"/>
                </a:solidFill>
              </a:defRPr>
            </a:pPr>
            <a:r>
              <a:t>4/9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11C3B"/>
                </a:solidFill>
              </a:defRPr>
            </a:pPr>
            <a:r>
              <a:t>Claude Code란 무엇인가?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Claude Code는 Anthropic이라는 회사가 만든, 대화로 코드를 작성해주는 AI 프로그램이에요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사람이 '이런 기능 만들어줘'라고 말하면, AI가 알아서 코드를 쓰고 고쳐줘요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여러 개의 파일을 한 번에 보고 이해해서, 큰 프로그램도 함께 도와줄 수 있어요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실행하기 전에 '이렇게 할게요'라는 계획을 먼저 보여주고, 확인한 다음 진행할 수 있어요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Visual Studio 같은 프로그램 안에서 함께 사용할 수 있어요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989320"/>
            <a:ext cx="10881360" cy="15240"/>
          </a:xfrm>
          <a:prstGeom prst="rect">
            <a:avLst/>
          </a:prstGeom>
          <a:solidFill>
            <a:srgbClr val="D8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4F8CFF"/>
                </a:solidFill>
              </a:rPr>
              <a:t>용어 설명   </a:t>
            </a:r>
            <a:r>
              <a:rPr sz="1100">
                <a:solidFill>
                  <a:srgbClr val="333A4D"/>
                </a:solidFill>
              </a:rPr>
              <a:t/>
            </a:r>
            <a:r>
              <a:rPr sz="1100" b="1">
                <a:solidFill>
                  <a:srgbClr val="111C3B"/>
                </a:solidFill>
              </a:rPr>
              <a:t>AI 에이전트 </a:t>
            </a:r>
            <a:r>
              <a:rPr sz="1100">
                <a:solidFill>
                  <a:srgbClr val="333A4D"/>
                </a:solidFill>
              </a:rPr>
              <a:t>스스로 판단해서 여러 작업을 척척 해내는 AI 프로그램</a:t>
            </a:r>
            <a:r>
              <a:rPr sz="1100">
                <a:solidFill>
                  <a:srgbClr val="333A4D"/>
                </a:solidFill>
              </a:rPr>
              <a:t>     ·     </a:t>
            </a:r>
            <a:r>
              <a:rPr sz="1100" b="1">
                <a:solidFill>
                  <a:srgbClr val="111C3B"/>
                </a:solidFill>
              </a:rPr>
              <a:t>Plan Mode </a:t>
            </a:r>
            <a:r>
              <a:rPr sz="1100">
                <a:solidFill>
                  <a:srgbClr val="333A4D"/>
                </a:solidFill>
              </a:rPr>
              <a:t>AI가 작업을 하기 전에 계획을 먼저 보여주는 기능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A4D"/>
                </a:solidFill>
              </a:defRPr>
            </a:pPr>
            <a:r>
              <a:t>5/9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11C3B"/>
                </a:solidFill>
              </a:defRPr>
            </a:pPr>
            <a:r>
              <a:t>Visual Studio와 Claude Code를 이용하는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방법 1 — Visual Studio(또는 VS Code)에 Claude Code 확장 프로그램을 설치해요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방법 2 — 프로그램 안의 '터미널'에 claude 라고 입력하면 바로 연결돼요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'이 파일을 고쳐줘'처럼 원하는 부분을 콕 집어서 요청할 수 있어요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AI가 고친 부분은 색깔로 표시돼서, 확인하고 승인할 수 있어요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복잡한 작업은 계획을 먼저 세우고 나서 진행해요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자주 쓰는 규칙을 한 번 적어두면, 매번 설명하지 않아도 AI가 기억해줘요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989320"/>
            <a:ext cx="10881360" cy="15240"/>
          </a:xfrm>
          <a:prstGeom prst="rect">
            <a:avLst/>
          </a:prstGeom>
          <a:solidFill>
            <a:srgbClr val="D8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4F8CFF"/>
                </a:solidFill>
              </a:rPr>
              <a:t>용어 설명   </a:t>
            </a:r>
            <a:r>
              <a:rPr sz="1100">
                <a:solidFill>
                  <a:srgbClr val="333A4D"/>
                </a:solidFill>
              </a:rPr>
              <a:t/>
            </a:r>
            <a:r>
              <a:rPr sz="1100" b="1">
                <a:solidFill>
                  <a:srgbClr val="111C3B"/>
                </a:solidFill>
              </a:rPr>
              <a:t>터미널 </a:t>
            </a:r>
            <a:r>
              <a:rPr sz="1100">
                <a:solidFill>
                  <a:srgbClr val="333A4D"/>
                </a:solidFill>
              </a:rPr>
              <a:t>글자로 명령어를 입력해서 컴퓨터에게 일을 시키는 화면</a:t>
            </a:r>
            <a:r>
              <a:rPr sz="1100">
                <a:solidFill>
                  <a:srgbClr val="333A4D"/>
                </a:solidFill>
              </a:rPr>
              <a:t>     ·     </a:t>
            </a:r>
            <a:r>
              <a:rPr sz="1100" b="1">
                <a:solidFill>
                  <a:srgbClr val="111C3B"/>
                </a:solidFill>
              </a:rPr>
              <a:t>확장 프로그램 </a:t>
            </a:r>
            <a:r>
              <a:rPr sz="1100">
                <a:solidFill>
                  <a:srgbClr val="333A4D"/>
                </a:solidFill>
              </a:rPr>
              <a:t>원래 프로그램에 새 기능을 더해주는 부가 프로그램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A4D"/>
                </a:solidFill>
              </a:defRPr>
            </a:pPr>
            <a:r>
              <a:t>6/9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11C3B"/>
                </a:solidFill>
              </a:defRPr>
            </a:pPr>
            <a:r>
              <a:t>GitHub는 무엇이며 주로 이용하는 무료 API 및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GitHub는 내가 만든 코드를 인터넷에 저장하고, 다른 사람과 함께 만들 수 있는 사이트예요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GitHub Pages — 내가 만든 웹페이지를 무료로 인터넷에 올려서 누구나 볼 수 있게 해줘요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GitHub Actions — '코드를 올리면 자동으로 이 작업을 해줘'처럼, 반복되는 일을 자동으로 처리해줘요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API — 다른 프로그램(예: 카카오톡)과 정보를 주고받을 수 있게 해주는 통로예요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gh(깃허브 CLI) — 마우스 없이 글자 명령만으로 깃허브를 다룰 수 있는 도구예요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989320"/>
            <a:ext cx="10881360" cy="15240"/>
          </a:xfrm>
          <a:prstGeom prst="rect">
            <a:avLst/>
          </a:prstGeom>
          <a:solidFill>
            <a:srgbClr val="D8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4F8CFF"/>
                </a:solidFill>
              </a:rPr>
              <a:t>용어 설명   </a:t>
            </a:r>
            <a:r>
              <a:rPr sz="1100">
                <a:solidFill>
                  <a:srgbClr val="333A4D"/>
                </a:solidFill>
              </a:rPr>
              <a:t/>
            </a:r>
            <a:r>
              <a:rPr sz="1100" b="1">
                <a:solidFill>
                  <a:srgbClr val="111C3B"/>
                </a:solidFill>
              </a:rPr>
              <a:t>저장소(Repository) </a:t>
            </a:r>
            <a:r>
              <a:rPr sz="1100">
                <a:solidFill>
                  <a:srgbClr val="333A4D"/>
                </a:solidFill>
              </a:rPr>
              <a:t>코드와 파일들을 모아두는 폴더 같은 공간</a:t>
            </a:r>
            <a:r>
              <a:rPr sz="1100">
                <a:solidFill>
                  <a:srgbClr val="333A4D"/>
                </a:solidFill>
              </a:rPr>
              <a:t>     ·     </a:t>
            </a:r>
            <a:r>
              <a:rPr sz="1100" b="1">
                <a:solidFill>
                  <a:srgbClr val="111C3B"/>
                </a:solidFill>
              </a:rPr>
              <a:t>API </a:t>
            </a:r>
            <a:r>
              <a:rPr sz="1100">
                <a:solidFill>
                  <a:srgbClr val="333A4D"/>
                </a:solidFill>
              </a:rPr>
              <a:t>서로 다른 프로그램이 정보를 주고받을 수 있게 해주는 규칙과 통로</a:t>
            </a:r>
            <a:r>
              <a:rPr sz="1100">
                <a:solidFill>
                  <a:srgbClr val="333A4D"/>
                </a:solidFill>
              </a:rPr>
              <a:t>     ·     </a:t>
            </a:r>
            <a:r>
              <a:rPr sz="1100" b="1">
                <a:solidFill>
                  <a:srgbClr val="111C3B"/>
                </a:solidFill>
              </a:rPr>
              <a:t>자동화 </a:t>
            </a:r>
            <a:r>
              <a:rPr sz="1100">
                <a:solidFill>
                  <a:srgbClr val="333A4D"/>
                </a:solidFill>
              </a:rPr>
              <a:t>사람이 매번 하지 않아도 컴퓨터가 알아서 반복 작업을 해주는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A4D"/>
                </a:solidFill>
              </a:defRPr>
            </a:pPr>
            <a:r>
              <a:t>7/9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11C3B"/>
                </a:solidFill>
              </a:defRPr>
            </a:pPr>
            <a:r>
              <a:t>실습: 매일 영어회화를 나만의 웹페이지로 만들기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목표 — 매일 새로운 영어 회화 문장을 자동으로 만들어서 웹페이지에 올리고, 카카오톡으로 알려주기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① Claude Code와 GitHub Actions가 매일 정해진 시간에 영어 문장과 뜻을 자동으로 만들어요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② 만들어진 내용을 웹페이지(HTML)로 저장해서 GitHub Pages에 자동으로 올려요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③ 카카오톡 API를 이용해서, 완성된 웹페이지 주소를 내 카카오톡으로 보내줘요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준비물 — GitHub 계정과 저장소, 카카오 개발자 사이트에서 발급받은 열쇠(API 키)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더 해보고 싶다면 — 문제 수준 선택하기, 발음 듣기 추가하기, 친구들과 함께 보기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989320"/>
            <a:ext cx="10881360" cy="15240"/>
          </a:xfrm>
          <a:prstGeom prst="rect">
            <a:avLst/>
          </a:prstGeom>
          <a:solidFill>
            <a:srgbClr val="D8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4F8CFF"/>
                </a:solidFill>
              </a:rPr>
              <a:t>용어 설명   </a:t>
            </a:r>
            <a:r>
              <a:rPr sz="1100">
                <a:solidFill>
                  <a:srgbClr val="333A4D"/>
                </a:solidFill>
              </a:rPr>
              <a:t/>
            </a:r>
            <a:r>
              <a:rPr sz="1100" b="1">
                <a:solidFill>
                  <a:srgbClr val="111C3B"/>
                </a:solidFill>
              </a:rPr>
              <a:t>API 키 </a:t>
            </a:r>
            <a:r>
              <a:rPr sz="1100">
                <a:solidFill>
                  <a:srgbClr val="333A4D"/>
                </a:solidFill>
              </a:rPr>
              <a:t>내 계정임을 증명해서 서비스를 사용할 수 있게 해주는 비밀번호 같은 값</a:t>
            </a:r>
            <a:r>
              <a:rPr sz="1100">
                <a:solidFill>
                  <a:srgbClr val="333A4D"/>
                </a:solidFill>
              </a:rPr>
              <a:t>     ·     </a:t>
            </a:r>
            <a:r>
              <a:rPr sz="1100" b="1">
                <a:solidFill>
                  <a:srgbClr val="111C3B"/>
                </a:solidFill>
              </a:rPr>
              <a:t>GitHub Actions </a:t>
            </a:r>
            <a:r>
              <a:rPr sz="1100">
                <a:solidFill>
                  <a:srgbClr val="333A4D"/>
                </a:solidFill>
              </a:rPr>
              <a:t>정해진 시간이나 조건이 되면 컴퓨터가 스스로 작업을 실행해주는 기능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A4D"/>
                </a:solidFill>
              </a:defRPr>
            </a:pPr>
            <a:r>
              <a:t>8/9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11C3B"/>
                </a:solidFill>
              </a:defRPr>
            </a:pPr>
            <a:r>
              <a:t>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Visual Studio는 코드를 쉽게 짤 수 있게 도와주는 프로그램이고, Claude Code는 AI로 코드를 대신 써주는 도우미예요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JSON과 GitHub의 무료 도구들을 함께 쓰면, 서버 없이도 나만의 자동화 프로그램(에이전트)을 만들 수 있어요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오늘처럼 '매일 영어회화 웹페이지'같은 재미있는 아이디어를 직접 만들어 보세요!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A4D"/>
                </a:solidFill>
              </a:defRPr>
            </a:pPr>
            <a:r>
              <a:t>9/9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